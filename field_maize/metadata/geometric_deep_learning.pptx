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13716000" cx="24384000"/>
  <p:notesSz cx="6858000" cy="9144000"/>
  <p:embeddedFontLst>
    <p:embeddedFont>
      <p:font typeface="Helvetica Neue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LoLG93PgyTJ6cD/CREArArSXCR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Bhagyalaxmi"/>
  <p:cmAuthor clrIdx="1" id="1" initials="" lastIdx="1" name="Akansh Patel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9688C2-A848-4772-85E5-69EA2212EC08}">
  <a:tblStyle styleId="{7C9688C2-A848-4772-85E5-69EA2212EC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03A96FA-7481-4A48-BE7A-E7AF8162FE2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2-23T02:40:10.412">
    <p:pos x="1273" y="761"/>
    <p:text>this image is cut off? the flattened features part on right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x-6D8eU"/>
      </p:ext>
    </p:extLst>
  </p:cm>
  <p:cm authorId="1" idx="1" dt="2025-12-23T02:40:10.412">
    <p:pos x="1273" y="761"/>
    <p:text>Yes I had chopped off the else part , because those part are not our concern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yDRjIzI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7569" lvl="0" marL="27940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706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8c6657892b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g38c6657892b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0ea89404c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3b0ea89404c_0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b0ea89404c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3b0ea89404c_0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b0ea89404c_0_3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b0ea89404c_0_3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0ea89404c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0ea89404c_0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0ea89404c_0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0ea89404c_0_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0ea89404c_0_3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0ea89404c_0_3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0ea89404c_0_3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0ea89404c_0_3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0ea89404c_0_2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0ea89404c_0_2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0ea89404c_0_2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0ea89404c_0_2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0ea89404c_0_2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0ea89404c_0_2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0ea89404c_0_2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0ea89404c_0_2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0ea89404c_0_2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0ea89404c_0_2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710b1cfd6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g3a710b1cfd6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0ea89404c_0_2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0ea89404c_0_2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710b1cfd6_1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g3a710b1cfd6_1_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0ea89404c_0_2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0ea89404c_0_2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0ea89404c_0_4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0ea89404c_0_40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0ea89404c_0_3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0ea89404c_0_3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itr-hom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23139400" y="13281162"/>
            <a:ext cx="608935" cy="375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itr-page" showMasterSp="0">
  <p:cSld name="iitr-pag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/>
          <p:nvPr/>
        </p:nvSpPr>
        <p:spPr>
          <a:xfrm>
            <a:off x="0" y="-1"/>
            <a:ext cx="24384001" cy="914401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Google Shape;13;p5"/>
          <p:cNvSpPr txBox="1"/>
          <p:nvPr>
            <p:ph idx="12" type="sldNum"/>
          </p:nvPr>
        </p:nvSpPr>
        <p:spPr>
          <a:xfrm>
            <a:off x="23139400" y="13281162"/>
            <a:ext cx="608935" cy="375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5"/>
          <p:cNvSpPr/>
          <p:nvPr/>
        </p:nvSpPr>
        <p:spPr>
          <a:xfrm>
            <a:off x="0" y="13209275"/>
            <a:ext cx="24384000" cy="506700"/>
          </a:xfrm>
          <a:prstGeom prst="rect">
            <a:avLst/>
          </a:prstGeom>
          <a:solidFill>
            <a:srgbClr val="2E90FA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" name="Google Shape;15;p5"/>
          <p:cNvSpPr txBox="1"/>
          <p:nvPr/>
        </p:nvSpPr>
        <p:spPr>
          <a:xfrm>
            <a:off x="2698194" y="13272716"/>
            <a:ext cx="198879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Arial"/>
              <a:buNone/>
            </a:pPr>
            <a:r>
              <a:rPr b="1" lang="en-US" sz="1900">
                <a:solidFill>
                  <a:srgbClr val="151515"/>
                </a:solidFill>
              </a:rPr>
              <a:t>Geometric Deep Learning presentation - Dec</a:t>
            </a:r>
            <a:r>
              <a:rPr b="1" i="0" lang="en-US" sz="1900" u="none" cap="none" strike="noStrike">
                <a:solidFill>
                  <a:srgbClr val="15151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900">
                <a:solidFill>
                  <a:srgbClr val="151515"/>
                </a:solidFill>
              </a:rPr>
              <a:t>16</a:t>
            </a:r>
            <a:r>
              <a:rPr b="1" baseline="30000" i="0" lang="en-US" sz="1900" u="none" cap="none" strike="noStrike">
                <a:solidFill>
                  <a:srgbClr val="151515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i="0" lang="en-US" sz="1900" u="none" cap="none" strike="noStrike">
                <a:solidFill>
                  <a:srgbClr val="151515"/>
                </a:solidFill>
                <a:latin typeface="Arial"/>
                <a:ea typeface="Arial"/>
                <a:cs typeface="Arial"/>
                <a:sym typeface="Arial"/>
              </a:rPr>
              <a:t>, 2025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/>
          <p:nvPr/>
        </p:nvSpPr>
        <p:spPr>
          <a:xfrm>
            <a:off x="0" y="13209275"/>
            <a:ext cx="24384000" cy="506700"/>
          </a:xfrm>
          <a:prstGeom prst="rect">
            <a:avLst/>
          </a:prstGeom>
          <a:solidFill>
            <a:srgbClr val="2E90FA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Google Shape;7;p3"/>
          <p:cNvSpPr txBox="1"/>
          <p:nvPr/>
        </p:nvSpPr>
        <p:spPr>
          <a:xfrm>
            <a:off x="2698194" y="13272716"/>
            <a:ext cx="198879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Arial"/>
              <a:buNone/>
            </a:pPr>
            <a:r>
              <a:rPr b="1" lang="en-US" sz="1900">
                <a:solidFill>
                  <a:srgbClr val="151515"/>
                </a:solidFill>
              </a:rPr>
              <a:t>Geometric Deep Learning presentation </a:t>
            </a:r>
            <a:r>
              <a:rPr b="1" lang="en-US" sz="1900">
                <a:solidFill>
                  <a:srgbClr val="151515"/>
                </a:solidFill>
              </a:rPr>
              <a:t>- Dec</a:t>
            </a:r>
            <a:r>
              <a:rPr b="1" i="0" lang="en-US" sz="1900" u="none" cap="none" strike="noStrike">
                <a:solidFill>
                  <a:srgbClr val="15151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900">
                <a:solidFill>
                  <a:srgbClr val="151515"/>
                </a:solidFill>
              </a:rPr>
              <a:t>16</a:t>
            </a:r>
            <a:r>
              <a:rPr b="1" baseline="30000" i="0" lang="en-US" sz="1900" u="none" cap="none" strike="noStrike">
                <a:solidFill>
                  <a:srgbClr val="151515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i="0" lang="en-US" sz="1900" u="none" cap="none" strike="noStrike">
                <a:solidFill>
                  <a:srgbClr val="151515"/>
                </a:solidFill>
                <a:latin typeface="Arial"/>
                <a:ea typeface="Arial"/>
                <a:cs typeface="Arial"/>
                <a:sym typeface="Arial"/>
              </a:rPr>
              <a:t>, 2025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23139400" y="13281162"/>
            <a:ext cx="608935" cy="375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320">
          <p15:clr>
            <a:srgbClr val="F26B43"/>
          </p15:clr>
        </p15:guide>
        <p15:guide id="2" pos="76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4.xml"/><Relationship Id="rId10" Type="http://schemas.openxmlformats.org/officeDocument/2006/relationships/slide" Target="/ppt/slides/slide20.xml"/><Relationship Id="rId9" Type="http://schemas.openxmlformats.org/officeDocument/2006/relationships/slide" Target="/ppt/slides/slide16.xml"/><Relationship Id="rId5" Type="http://schemas.openxmlformats.org/officeDocument/2006/relationships/slide" Target="/ppt/slides/slide6.xml"/><Relationship Id="rId6" Type="http://schemas.openxmlformats.org/officeDocument/2006/relationships/slide" Target="/ppt/slides/slide11.xml"/><Relationship Id="rId7" Type="http://schemas.openxmlformats.org/officeDocument/2006/relationships/slide" Target="/ppt/slides/slide13.xml"/><Relationship Id="rId8" Type="http://schemas.openxmlformats.org/officeDocument/2006/relationships/slide" Target="/ppt/slides/slide15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n3cEDnJnyR9Jxgxl3uffY41JIBr0LVMD/view" TargetMode="External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25.png"/><Relationship Id="rId6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6.png"/><Relationship Id="rId5" Type="http://schemas.openxmlformats.org/officeDocument/2006/relationships/image" Target="../media/image26.png"/><Relationship Id="rId6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1.xml"/><Relationship Id="rId4" Type="http://schemas.openxmlformats.org/officeDocument/2006/relationships/image" Target="../media/image28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/>
          <p:nvPr>
            <p:ph idx="12" type="sldNum"/>
          </p:nvPr>
        </p:nvSpPr>
        <p:spPr>
          <a:xfrm>
            <a:off x="23139400" y="13281162"/>
            <a:ext cx="6090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"/>
          <p:cNvSpPr txBox="1"/>
          <p:nvPr/>
        </p:nvSpPr>
        <p:spPr>
          <a:xfrm>
            <a:off x="19591486" y="11959425"/>
            <a:ext cx="42732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475467"/>
                </a:solidFill>
              </a:rPr>
              <a:t>Presented by</a:t>
            </a:r>
            <a:endParaRPr b="1" sz="2900">
              <a:solidFill>
                <a:srgbClr val="475467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475467"/>
                </a:solidFill>
              </a:rPr>
              <a:t>Akansh Patel</a:t>
            </a:r>
            <a:endParaRPr b="1" i="0" sz="2900" u="none" cap="none" strike="noStrike">
              <a:solidFill>
                <a:srgbClr val="475467"/>
              </a:solidFill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01750" y="2484225"/>
            <a:ext cx="22780500" cy="6506700"/>
          </a:xfrm>
          <a:prstGeom prst="roundRect">
            <a:avLst>
              <a:gd fmla="val 16667" name="adj"/>
            </a:avLst>
          </a:prstGeom>
          <a:noFill/>
          <a:ln cap="flat" cmpd="sng" w="18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525" lIns="180525" spcFirstLastPara="1" rIns="180525" wrap="square" tIns="180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64"/>
          </a:p>
        </p:txBody>
      </p:sp>
      <p:sp>
        <p:nvSpPr>
          <p:cNvPr id="23" name="Google Shape;23;p1"/>
          <p:cNvSpPr txBox="1"/>
          <p:nvPr/>
        </p:nvSpPr>
        <p:spPr>
          <a:xfrm>
            <a:off x="1407900" y="3443750"/>
            <a:ext cx="21568200" cy="3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525" lIns="180525" spcFirstLastPara="1" rIns="180525" wrap="square" tIns="180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97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of 3D Geometric Representations for Autoencoder-Based Shape Reconstruction</a:t>
            </a:r>
            <a:endParaRPr b="1" sz="4897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1721262" y="6741650"/>
            <a:ext cx="20941500" cy="16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525" lIns="180525" spcFirstLastPara="1" rIns="180525" wrap="square" tIns="1805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comparison of reconstruction accuracy, computational cost, and processing complexity</a:t>
            </a:r>
            <a:endParaRPr sz="36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8c6657892b_0_0"/>
          <p:cNvSpPr txBox="1"/>
          <p:nvPr>
            <p:ph type="title"/>
          </p:nvPr>
        </p:nvSpPr>
        <p:spPr>
          <a:xfrm>
            <a:off x="607509" y="189440"/>
            <a:ext cx="233595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64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</a:t>
            </a:r>
            <a:endParaRPr sz="648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g38c6657892b_0_0"/>
          <p:cNvSpPr txBox="1"/>
          <p:nvPr/>
        </p:nvSpPr>
        <p:spPr>
          <a:xfrm>
            <a:off x="3388200" y="2300075"/>
            <a:ext cx="17607600" cy="82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488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4100"/>
              <a:buFont typeface="Times New Roman"/>
              <a:buAutoNum type="arabicPeriod"/>
            </a:pPr>
            <a:r>
              <a:rPr lang="en-US" sz="4100" u="sng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Aim</a:t>
            </a:r>
            <a:endParaRPr sz="4100">
              <a:solidFill>
                <a:srgbClr val="1515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88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4100"/>
              <a:buFont typeface="Times New Roman"/>
              <a:buAutoNum type="arabicPeriod"/>
            </a:pPr>
            <a:r>
              <a:rPr lang="en-US" sz="4100" u="sng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Maize Dataset</a:t>
            </a:r>
            <a:endParaRPr sz="4100" u="sng">
              <a:solidFill>
                <a:srgbClr val="1515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88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4100"/>
              <a:buFont typeface="Times New Roman"/>
              <a:buAutoNum type="arabicPeriod"/>
            </a:pPr>
            <a:r>
              <a:rPr lang="en-US" sz="4100" u="sng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Geometric Representation</a:t>
            </a:r>
            <a:endParaRPr sz="4100" u="sng">
              <a:solidFill>
                <a:srgbClr val="1515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88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4100"/>
              <a:buFont typeface="Times New Roman"/>
              <a:buAutoNum type="arabicPeriod"/>
            </a:pPr>
            <a:r>
              <a:rPr lang="en-US" sz="4100" u="sng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PointNet++</a:t>
            </a:r>
            <a:endParaRPr sz="4100" u="sng">
              <a:solidFill>
                <a:srgbClr val="1515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88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4100"/>
              <a:buFont typeface="Times New Roman"/>
              <a:buAutoNum type="arabicPeriod"/>
            </a:pPr>
            <a:r>
              <a:rPr lang="en-US" sz="4100" u="sng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DGCNN</a:t>
            </a:r>
            <a:endParaRPr sz="4100" u="sng">
              <a:solidFill>
                <a:srgbClr val="1515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88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4100"/>
              <a:buFont typeface="Times New Roman"/>
              <a:buAutoNum type="arabicPeriod"/>
            </a:pPr>
            <a:r>
              <a:rPr lang="en-US" sz="4100" u="sng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3D CNN</a:t>
            </a:r>
            <a:endParaRPr sz="4100" u="sng">
              <a:solidFill>
                <a:srgbClr val="1515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88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4100"/>
              <a:buFont typeface="Times New Roman"/>
              <a:buAutoNum type="arabicPeriod"/>
            </a:pPr>
            <a:r>
              <a:rPr lang="en-US" sz="4100" u="sng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Convolution Network</a:t>
            </a:r>
            <a:endParaRPr sz="4100" u="sng">
              <a:solidFill>
                <a:srgbClr val="1515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88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4100"/>
              <a:buFont typeface="Times New Roman"/>
              <a:buAutoNum type="arabicPeriod"/>
            </a:pPr>
            <a:r>
              <a:rPr lang="en-US" sz="4100" u="sng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DeepSDF</a:t>
            </a:r>
            <a:endParaRPr sz="4100" u="sng">
              <a:solidFill>
                <a:srgbClr val="1515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88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4100"/>
              <a:buFont typeface="Times New Roman"/>
              <a:buAutoNum type="arabicPeriod"/>
            </a:pPr>
            <a:r>
              <a:rPr lang="en-US" sz="4100" u="sng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Recommendation</a:t>
            </a:r>
            <a:endParaRPr sz="4100" u="sng">
              <a:solidFill>
                <a:srgbClr val="1515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0ea89404c_0_13"/>
          <p:cNvSpPr txBox="1"/>
          <p:nvPr>
            <p:ph type="title"/>
          </p:nvPr>
        </p:nvSpPr>
        <p:spPr>
          <a:xfrm>
            <a:off x="607500" y="189455"/>
            <a:ext cx="233595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64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</a:t>
            </a:r>
            <a:endParaRPr sz="648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g3b0ea89404c_0_13"/>
          <p:cNvSpPr txBox="1"/>
          <p:nvPr/>
        </p:nvSpPr>
        <p:spPr>
          <a:xfrm>
            <a:off x="1085300" y="1558450"/>
            <a:ext cx="22900500" cy="54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08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Char char="●"/>
            </a:pP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Compare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 different 3D geometric representations </a:t>
            </a: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point clouds, voxel grids, meshes, and signed distance functions (SDFs)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 for autoencoder-based shape encoding.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Char char="●"/>
            </a:pP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Identify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 autoencoder architectures that provide the best trade-off between </a:t>
            </a: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reconstruction accuracy, computational cost, and representation capacity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Char char="●"/>
            </a:pP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Evaluate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 the robustness of the learned latent representations with respect to </a:t>
            </a: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noise, geometric transformations, and bottleneck dimensionality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4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b0ea89404c_0_21"/>
          <p:cNvSpPr txBox="1"/>
          <p:nvPr>
            <p:ph idx="1" type="body"/>
          </p:nvPr>
        </p:nvSpPr>
        <p:spPr>
          <a:xfrm>
            <a:off x="1085300" y="1272375"/>
            <a:ext cx="22900500" cy="3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0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51515"/>
              </a:buClr>
              <a:buSzPts val="3500"/>
              <a:buFont typeface="Times New Roman"/>
              <a:buChar char="●"/>
            </a:pPr>
            <a:r>
              <a:rPr b="1" lang="en-US" sz="35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Maize Field 3D: </a:t>
            </a:r>
            <a:r>
              <a:rPr lang="en-US" sz="35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includes 1,045 high-quality point clouds of field-grown maize collected using a terrestrial laser scanner (TLS).</a:t>
            </a:r>
            <a:endParaRPr sz="3500">
              <a:solidFill>
                <a:srgbClr val="1515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3500"/>
              <a:buFont typeface="Arial"/>
              <a:buChar char="●"/>
            </a:pPr>
            <a:r>
              <a:rPr lang="en-US" sz="35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file contains </a:t>
            </a:r>
            <a:r>
              <a:rPr b="1" lang="en-US" sz="35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10,000 3D points</a:t>
            </a:r>
            <a:r>
              <a:rPr lang="en-US" sz="35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(point cloud).</a:t>
            </a:r>
            <a:endParaRPr sz="3500">
              <a:solidFill>
                <a:srgbClr val="1515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3500"/>
              <a:buFont typeface="Arial"/>
              <a:buChar char="●"/>
            </a:pPr>
            <a:r>
              <a:rPr lang="en-US" sz="35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Geometry is </a:t>
            </a:r>
            <a:r>
              <a:rPr b="1" lang="en-US" sz="35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</a:t>
            </a:r>
            <a:r>
              <a:rPr lang="en-US" sz="35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with fine details that must be preserved in reconstruction.</a:t>
            </a:r>
            <a:endParaRPr sz="3500">
              <a:solidFill>
                <a:srgbClr val="1515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3500"/>
              <a:buFont typeface="Arial"/>
              <a:buChar char="●"/>
            </a:pPr>
            <a:r>
              <a:rPr lang="en-US" sz="35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Capturing </a:t>
            </a:r>
            <a:r>
              <a:rPr b="1" lang="en-US" sz="35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geometry</a:t>
            </a:r>
            <a:r>
              <a:rPr lang="en-US" sz="35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crucial for accurate autoencoding.</a:t>
            </a:r>
            <a:endParaRPr sz="4100">
              <a:solidFill>
                <a:srgbClr val="151515"/>
              </a:solidFill>
            </a:endParaRPr>
          </a:p>
        </p:txBody>
      </p:sp>
      <p:sp>
        <p:nvSpPr>
          <p:cNvPr id="42" name="Google Shape;42;g3b0ea89404c_0_21"/>
          <p:cNvSpPr txBox="1"/>
          <p:nvPr>
            <p:ph type="title"/>
          </p:nvPr>
        </p:nvSpPr>
        <p:spPr>
          <a:xfrm>
            <a:off x="607500" y="189456"/>
            <a:ext cx="23359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64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Maize Dataset</a:t>
            </a:r>
            <a:endParaRPr sz="648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" name="Google Shape;43;g3b0ea89404c_0_21" title="Maize_point_cloud_10k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1488" y="4992000"/>
            <a:ext cx="8368125" cy="612547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g3b0ea89404c_0_21"/>
          <p:cNvSpPr txBox="1"/>
          <p:nvPr/>
        </p:nvSpPr>
        <p:spPr>
          <a:xfrm>
            <a:off x="8352000" y="11443200"/>
            <a:ext cx="83682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u="sng">
                <a:latin typeface="Times New Roman"/>
                <a:ea typeface="Times New Roman"/>
                <a:cs typeface="Times New Roman"/>
                <a:sym typeface="Times New Roman"/>
              </a:rPr>
              <a:t>fig 1: Maize point cloud data</a:t>
            </a:r>
            <a:endParaRPr sz="35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b0ea89404c_0_349"/>
          <p:cNvSpPr txBox="1"/>
          <p:nvPr/>
        </p:nvSpPr>
        <p:spPr>
          <a:xfrm>
            <a:off x="5904750" y="4416900"/>
            <a:ext cx="12574500" cy="48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Geometric Representations</a:t>
            </a:r>
            <a:endParaRPr sz="1228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0ea89404c_0_28"/>
          <p:cNvSpPr txBox="1"/>
          <p:nvPr>
            <p:ph type="title"/>
          </p:nvPr>
        </p:nvSpPr>
        <p:spPr>
          <a:xfrm>
            <a:off x="626300" y="189556"/>
            <a:ext cx="233595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64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Geometric Representations</a:t>
            </a:r>
            <a:endParaRPr sz="648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5" name="Google Shape;55;g3b0ea89404c_0_28"/>
          <p:cNvGraphicFramePr/>
          <p:nvPr/>
        </p:nvGraphicFramePr>
        <p:xfrm>
          <a:off x="1085300" y="106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{7C9688C2-A848-4772-85E5-69EA2212EC08}</a:tableStyleId>
              </a:tblPr>
              <a:tblGrid>
                <a:gridCol w="5672000"/>
                <a:gridCol w="5672000"/>
                <a:gridCol w="5672000"/>
                <a:gridCol w="5884500"/>
              </a:tblGrid>
              <a:tr h="110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solidFill>
                            <a:srgbClr val="15151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Point Cloud</a:t>
                      </a:r>
                      <a:endParaRPr b="1" sz="3500">
                        <a:solidFill>
                          <a:srgbClr val="15151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solidFill>
                            <a:srgbClr val="15151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Voxel </a:t>
                      </a:r>
                      <a:endParaRPr b="1" sz="3500">
                        <a:solidFill>
                          <a:srgbClr val="15151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solidFill>
                            <a:srgbClr val="15151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Triangular Mesh</a:t>
                      </a:r>
                      <a:endParaRPr b="1" sz="3500">
                        <a:solidFill>
                          <a:srgbClr val="15151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solidFill>
                            <a:srgbClr val="15151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Implicit (SDF)</a:t>
                      </a:r>
                      <a:endParaRPr b="1" sz="3500">
                        <a:solidFill>
                          <a:srgbClr val="15151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427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500"/>
                    </a:p>
                  </a:txBody>
                  <a:tcPr marT="91425" marB="91425" marR="91425" marL="91425">
                    <a:lnL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500"/>
                    </a:p>
                  </a:txBody>
                  <a:tcPr marT="91425" marB="91425" marR="91425" marL="91425">
                    <a:lnL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500"/>
                    </a:p>
                  </a:txBody>
                  <a:tcPr marT="91425" marB="91425" marR="91425" marL="91425">
                    <a:lnL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500"/>
                    </a:p>
                  </a:txBody>
                  <a:tcPr marT="91425" marB="91425" marR="91425" marL="91425">
                    <a:lnL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6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simplest representation: only points, no connectivity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voxel is the three-dimensional equivalent of a pixel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compact form representing surfaces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mathematical function that represent surface as a zero level set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2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Best for </a:t>
                      </a: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scans / 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easy processing.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Best for 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segmentation / 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complex data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Best for </a:t>
                      </a: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compact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representation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Best for 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reconstruction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6" name="Google Shape;56;g3b0ea89404c_0_28" title="pointcloud.png"/>
          <p:cNvPicPr preferRelativeResize="0"/>
          <p:nvPr/>
        </p:nvPicPr>
        <p:blipFill rotWithShape="1">
          <a:blip r:embed="rId3">
            <a:alphaModFix/>
          </a:blip>
          <a:srcRect b="5633" l="0" r="0" t="0"/>
          <a:stretch/>
        </p:blipFill>
        <p:spPr>
          <a:xfrm>
            <a:off x="1181525" y="2247950"/>
            <a:ext cx="5470425" cy="413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3b0ea89404c_0_28" title="voxel_128.png"/>
          <p:cNvPicPr preferRelativeResize="0"/>
          <p:nvPr/>
        </p:nvPicPr>
        <p:blipFill rotWithShape="1">
          <a:blip r:embed="rId4">
            <a:alphaModFix/>
          </a:blip>
          <a:srcRect b="0" l="3316" r="0" t="0"/>
          <a:stretch/>
        </p:blipFill>
        <p:spPr>
          <a:xfrm>
            <a:off x="6946325" y="2247950"/>
            <a:ext cx="5245676" cy="413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3b0ea89404c_0_28" title="mesh_marchin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86375" y="2247950"/>
            <a:ext cx="5470425" cy="413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g3b0ea89404c_0_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326050" y="2247950"/>
            <a:ext cx="5245675" cy="41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0ea89404c_0_47"/>
          <p:cNvSpPr txBox="1"/>
          <p:nvPr>
            <p:ph type="title"/>
          </p:nvPr>
        </p:nvSpPr>
        <p:spPr>
          <a:xfrm>
            <a:off x="607500" y="189454"/>
            <a:ext cx="233595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64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Trade-offs in 3D R</a:t>
            </a:r>
            <a:r>
              <a:rPr lang="en-US" sz="64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epresentations</a:t>
            </a:r>
            <a:endParaRPr sz="648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5" name="Google Shape;65;g3b0ea89404c_0_47"/>
          <p:cNvGraphicFramePr/>
          <p:nvPr/>
        </p:nvGraphicFramePr>
        <p:xfrm>
          <a:off x="1085300" y="150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{7C9688C2-A848-4772-85E5-69EA2212EC08}</a:tableStyleId>
              </a:tblPr>
              <a:tblGrid>
                <a:gridCol w="4026500"/>
                <a:gridCol w="4248125"/>
                <a:gridCol w="5004375"/>
                <a:gridCol w="5041400"/>
                <a:gridCol w="4580100"/>
              </a:tblGrid>
              <a:tr h="215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Representations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Memory Scaling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Resolution - Memory Tradeoff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Topological Information 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Processing Complexity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237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Point Cloud  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 (O(N))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Linear increase with point count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Absent (no explicit connectivity)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 (permutation-invariant operators)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071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Voxel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High (O(R</a:t>
                      </a:r>
                      <a:r>
                        <a:rPr b="1" baseline="30000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Cubic growth with spatial resolution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Implicit via regular lattice adjacency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 (dense 3D convolutions)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37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Triangular Mesh 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Moderate(V + F)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Adaptive refinement with localized resolution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Explicit surface connectivity (edges/faces)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(graph and topology-aware operations)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37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Signed Distance Field(SDF)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O(θ) (network parameters)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Resolution-independent (continuous representation)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Implicit surface topology via zero level set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 (function evaluation and sampling)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0ea89404c_0_377"/>
          <p:cNvSpPr txBox="1"/>
          <p:nvPr/>
        </p:nvSpPr>
        <p:spPr>
          <a:xfrm>
            <a:off x="5904750" y="4416900"/>
            <a:ext cx="12574500" cy="48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</a:t>
            </a:r>
            <a:r>
              <a:rPr lang="en-US" sz="122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 sz="1228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0ea89404c_0_381"/>
          <p:cNvSpPr txBox="1"/>
          <p:nvPr>
            <p:ph type="title"/>
          </p:nvPr>
        </p:nvSpPr>
        <p:spPr>
          <a:xfrm>
            <a:off x="607500" y="189455"/>
            <a:ext cx="233595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64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Pointnet++ (Multi Scale Grouping)</a:t>
            </a:r>
            <a:endParaRPr sz="648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g3b0ea89404c_0_381"/>
          <p:cNvSpPr/>
          <p:nvPr/>
        </p:nvSpPr>
        <p:spPr>
          <a:xfrm>
            <a:off x="17049300" y="1710050"/>
            <a:ext cx="6671700" cy="5496900"/>
          </a:xfrm>
          <a:prstGeom prst="roundRect">
            <a:avLst>
              <a:gd fmla="val 16667" name="adj"/>
            </a:avLst>
          </a:prstGeom>
          <a:solidFill>
            <a:srgbClr val="F2F4F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Components</a:t>
            </a:r>
            <a:endParaRPr b="1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b="1"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Sampling Layer: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(FPS).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b="1"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Grouping Layer: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Ball Query or K-Nearest Neighbors (KNN).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b="1"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PointNet Layer: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Learns features for each local neighborhood.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b="1"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Multi-Scale Grouping (MSG):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Hierarchically aggregates features from progressively larger local regions.</a:t>
            </a:r>
            <a:endParaRPr sz="3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g3b0ea89404c_0_381"/>
          <p:cNvSpPr txBox="1"/>
          <p:nvPr/>
        </p:nvSpPr>
        <p:spPr>
          <a:xfrm>
            <a:off x="1085300" y="8158950"/>
            <a:ext cx="22900500" cy="47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</a:t>
            </a:r>
            <a:endParaRPr b="1" sz="3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AutoNum type="arabicPeriod"/>
            </a:pPr>
            <a:r>
              <a:rPr b="1"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Preparation: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Downsampled each point cloud to </a:t>
            </a:r>
            <a:r>
              <a:rPr b="1"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2048 points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</a:t>
            </a:r>
            <a:r>
              <a:rPr b="1"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Farthest Point Sampling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normalized 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coordinates; processed data saved for efficient training.</a:t>
            </a:r>
            <a:endParaRPr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AutoNum type="arabicPeriod"/>
            </a:pPr>
            <a:r>
              <a:rPr b="1"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Decoder: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ulti Layer Perceptron.</a:t>
            </a:r>
            <a:endParaRPr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AutoNum type="arabicPeriod"/>
            </a:pPr>
            <a:r>
              <a:rPr b="1"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Implication: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Without skip connections, the network may require </a:t>
            </a:r>
            <a:r>
              <a:rPr b="1"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longer training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accurately capture local details, because in the original PointNet++ segmentation task, skip connections preserve features across layers, and omitting them reduces gradient flow, making reconstruction of fine geometry harder.</a:t>
            </a:r>
            <a:endParaRPr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g3b0ea89404c_0_381" title="pointnet_2_arc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925" y="1710050"/>
            <a:ext cx="9582749" cy="527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g3b0ea89404c_0_381" title="pointnet_2_arch_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3212" y="2136475"/>
            <a:ext cx="6284637" cy="41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b0ea89404c_0_381"/>
          <p:cNvSpPr txBox="1"/>
          <p:nvPr/>
        </p:nvSpPr>
        <p:spPr>
          <a:xfrm>
            <a:off x="936350" y="7159150"/>
            <a:ext cx="74322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Hierarchical Point Set Feature Learning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g3b0ea89404c_0_381"/>
          <p:cNvSpPr/>
          <p:nvPr/>
        </p:nvSpPr>
        <p:spPr>
          <a:xfrm>
            <a:off x="365925" y="1014375"/>
            <a:ext cx="9812100" cy="6846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3b0ea89404c_0_381"/>
          <p:cNvSpPr txBox="1"/>
          <p:nvPr/>
        </p:nvSpPr>
        <p:spPr>
          <a:xfrm>
            <a:off x="10592400" y="7139625"/>
            <a:ext cx="60060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imes New Roman"/>
                <a:ea typeface="Times New Roman"/>
                <a:cs typeface="Times New Roman"/>
                <a:sym typeface="Times New Roman"/>
              </a:rPr>
              <a:t>Local Region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g3b0ea89404c_0_381"/>
          <p:cNvSpPr/>
          <p:nvPr/>
        </p:nvSpPr>
        <p:spPr>
          <a:xfrm>
            <a:off x="10371750" y="1014375"/>
            <a:ext cx="6483900" cy="6846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0ea89404c_0_202"/>
          <p:cNvSpPr txBox="1"/>
          <p:nvPr>
            <p:ph type="title"/>
          </p:nvPr>
        </p:nvSpPr>
        <p:spPr>
          <a:xfrm>
            <a:off x="607500" y="189455"/>
            <a:ext cx="233595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64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Pointnet++ : Outcomes</a:t>
            </a:r>
            <a:endParaRPr sz="648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9" name="Google Shape;89;g3b0ea89404c_0_202"/>
          <p:cNvGraphicFramePr/>
          <p:nvPr/>
        </p:nvGraphicFramePr>
        <p:xfrm>
          <a:off x="1085300" y="1451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{7C9688C2-A848-4772-85E5-69EA2212EC08}</a:tableStyleId>
              </a:tblPr>
              <a:tblGrid>
                <a:gridCol w="3224325"/>
                <a:gridCol w="2276375"/>
                <a:gridCol w="2750400"/>
                <a:gridCol w="3797000"/>
                <a:gridCol w="2829350"/>
                <a:gridCol w="8023050"/>
              </a:tblGrid>
              <a:tr h="72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Architecture</a:t>
                      </a:r>
                      <a:endParaRPr b="1"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Epoch</a:t>
                      </a:r>
                      <a:endParaRPr b="1"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</a:t>
                      </a:r>
                      <a:endParaRPr b="1"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Time</a:t>
                      </a:r>
                      <a:endParaRPr b="1"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Latent Dim </a:t>
                      </a:r>
                      <a:endParaRPr b="1"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b="1"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</a:tr>
              <a:tr h="283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Pointnet++</a:t>
                      </a:r>
                      <a:endParaRPr b="1"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3270+</a:t>
                      </a:r>
                      <a:endParaRPr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0.032</a:t>
                      </a:r>
                      <a:endParaRPr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hrs</a:t>
                      </a:r>
                      <a:endParaRPr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431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Times New Roman"/>
                        <a:buChar char="●"/>
                      </a:pPr>
                      <a:r>
                        <a:rPr b="1"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</a:t>
                      </a: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transformation invariant.</a:t>
                      </a:r>
                      <a:endParaRPr sz="3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431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Times New Roman"/>
                        <a:buChar char="●"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</a:t>
                      </a:r>
                      <a:r>
                        <a:rPr b="1"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30+</a:t>
                      </a:r>
                      <a:r>
                        <a:rPr b="1"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hrs </a:t>
                      </a: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 training to get near to the original geometry.</a:t>
                      </a:r>
                      <a:endParaRPr sz="3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431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Times New Roman"/>
                        <a:buChar char="●"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Chamfer Loss calculation is itself computational heavy task. </a:t>
                      </a:r>
                      <a:endParaRPr b="1"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90" name="Google Shape;90;g3b0ea89404c_0_202" title="Pointnet2_pc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9600" y="6739200"/>
            <a:ext cx="5486400" cy="495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b0ea89404c_0_202" title="Pointnet2_ts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33389" y="6660963"/>
            <a:ext cx="5335251" cy="5108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3b0ea89404c_0_202" title="pointnet2_uma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46054" y="6793888"/>
            <a:ext cx="5029201" cy="484293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b0ea89404c_0_202"/>
          <p:cNvSpPr txBox="1"/>
          <p:nvPr/>
        </p:nvSpPr>
        <p:spPr>
          <a:xfrm>
            <a:off x="881375" y="11769750"/>
            <a:ext cx="5486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Reconstructed Shape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g3b0ea89404c_0_202"/>
          <p:cNvSpPr txBox="1"/>
          <p:nvPr/>
        </p:nvSpPr>
        <p:spPr>
          <a:xfrm>
            <a:off x="6969600" y="11769750"/>
            <a:ext cx="5486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latent Vector: PCA 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g3b0ea89404c_0_202"/>
          <p:cNvSpPr txBox="1"/>
          <p:nvPr/>
        </p:nvSpPr>
        <p:spPr>
          <a:xfrm>
            <a:off x="13057825" y="11769750"/>
            <a:ext cx="5486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latent Vector: t-SNE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g3b0ea89404c_0_202"/>
          <p:cNvSpPr txBox="1"/>
          <p:nvPr/>
        </p:nvSpPr>
        <p:spPr>
          <a:xfrm>
            <a:off x="19146050" y="11691525"/>
            <a:ext cx="51381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latent Vector: t-SNE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g3b0ea89404c_0_202" title="recon_pn2_104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150" y="7627325"/>
            <a:ext cx="5998851" cy="400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0ea89404c_0_218"/>
          <p:cNvSpPr txBox="1"/>
          <p:nvPr/>
        </p:nvSpPr>
        <p:spPr>
          <a:xfrm>
            <a:off x="1085300" y="7831100"/>
            <a:ext cx="22900500" cy="5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</a:t>
            </a:r>
            <a:endParaRPr b="1" sz="3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AutoNum type="arabicPeriod"/>
            </a:pPr>
            <a:r>
              <a:rPr b="1"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Preparation: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Each point cloud was downsampled to 2,048 points via </a:t>
            </a: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Farthest Point Sampling (FPS)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 and normalized to a unit sphere to ensure uniform surface coverage and scale invariance.</a:t>
            </a:r>
            <a:endParaRPr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AutoNum type="arabicPeriod"/>
            </a:pPr>
            <a:r>
              <a:rPr b="1"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Decoder: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ulti layer perceptron.</a:t>
            </a:r>
            <a:endParaRPr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AutoNum type="arabicPeriod"/>
            </a:pP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r>
              <a:rPr b="1"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b="1"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AutoNum type="alphaLcPeriod"/>
            </a:pPr>
            <a:r>
              <a:rPr b="1"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Permutation In</a:t>
            </a: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variance: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 Symmetric aggregation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AutoNum type="alphaLcPeriod"/>
            </a:pP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Local-Global Integration: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 Feature-space neighborhood modeling enables effective topological recovery and maintains semantic proximity in the latent space.</a:t>
            </a:r>
            <a:endParaRPr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b0ea89404c_0_218"/>
          <p:cNvSpPr txBox="1"/>
          <p:nvPr>
            <p:ph type="title"/>
          </p:nvPr>
        </p:nvSpPr>
        <p:spPr>
          <a:xfrm>
            <a:off x="607500" y="189453"/>
            <a:ext cx="233595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64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Graph Convolution Neural Network </a:t>
            </a:r>
            <a:endParaRPr sz="648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g3b0ea89404c_0_218" title="dgcnn_2.png"/>
          <p:cNvPicPr preferRelativeResize="0"/>
          <p:nvPr/>
        </p:nvPicPr>
        <p:blipFill rotWithShape="1">
          <a:blip r:embed="rId3">
            <a:alphaModFix/>
          </a:blip>
          <a:srcRect b="2838" l="3831" r="6642" t="4112"/>
          <a:stretch/>
        </p:blipFill>
        <p:spPr>
          <a:xfrm>
            <a:off x="1085300" y="2550663"/>
            <a:ext cx="13974249" cy="44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b0ea89404c_0_218" title="dgcnn_3.png"/>
          <p:cNvPicPr preferRelativeResize="0"/>
          <p:nvPr/>
        </p:nvPicPr>
        <p:blipFill rotWithShape="1">
          <a:blip r:embed="rId4">
            <a:alphaModFix/>
          </a:blip>
          <a:srcRect b="7821" l="9482" r="9748" t="5471"/>
          <a:stretch/>
        </p:blipFill>
        <p:spPr>
          <a:xfrm>
            <a:off x="16951750" y="3018838"/>
            <a:ext cx="6066751" cy="3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b0ea89404c_0_218"/>
          <p:cNvSpPr/>
          <p:nvPr/>
        </p:nvSpPr>
        <p:spPr>
          <a:xfrm>
            <a:off x="472200" y="1025388"/>
            <a:ext cx="23439600" cy="5832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g3b0ea89404c_0_218"/>
          <p:cNvSpPr txBox="1"/>
          <p:nvPr/>
        </p:nvSpPr>
        <p:spPr>
          <a:xfrm>
            <a:off x="2265050" y="6965350"/>
            <a:ext cx="205410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u="sng">
                <a:latin typeface="Times New Roman"/>
                <a:ea typeface="Times New Roman"/>
                <a:cs typeface="Times New Roman"/>
                <a:sym typeface="Times New Roman"/>
              </a:rPr>
              <a:t>Key Components of DGCNN architecture</a:t>
            </a:r>
            <a:endParaRPr sz="35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0ea89404c_0_234"/>
          <p:cNvSpPr txBox="1"/>
          <p:nvPr>
            <p:ph type="title"/>
          </p:nvPr>
        </p:nvSpPr>
        <p:spPr>
          <a:xfrm>
            <a:off x="607500" y="189455"/>
            <a:ext cx="233595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64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DGCNN</a:t>
            </a:r>
            <a:r>
              <a:rPr lang="en-US" sz="64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Outcomes</a:t>
            </a:r>
            <a:endParaRPr sz="648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3" name="Google Shape;113;g3b0ea89404c_0_234"/>
          <p:cNvGraphicFramePr/>
          <p:nvPr/>
        </p:nvGraphicFramePr>
        <p:xfrm>
          <a:off x="607500" y="120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{7C9688C2-A848-4772-85E5-69EA2212EC08}</a:tableStyleId>
              </a:tblPr>
              <a:tblGrid>
                <a:gridCol w="3224325"/>
                <a:gridCol w="2276375"/>
                <a:gridCol w="2750400"/>
                <a:gridCol w="3797000"/>
                <a:gridCol w="2829350"/>
                <a:gridCol w="8023050"/>
              </a:tblGrid>
              <a:tr h="64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Architecture</a:t>
                      </a:r>
                      <a:endParaRPr b="1"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Epoch</a:t>
                      </a:r>
                      <a:endParaRPr b="1"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</a:t>
                      </a:r>
                      <a:endParaRPr b="1"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Time</a:t>
                      </a:r>
                      <a:endParaRPr b="1"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Latent Dim </a:t>
                      </a:r>
                      <a:endParaRPr b="1"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b="1"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</a:tr>
              <a:tr h="201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DGCNN</a:t>
                      </a:r>
                      <a:endParaRPr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6000</a:t>
                      </a:r>
                      <a:endParaRPr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0.0372</a:t>
                      </a:r>
                      <a:endParaRPr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3.5hrs</a:t>
                      </a:r>
                      <a:endParaRPr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431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Times New Roman"/>
                        <a:buChar char="●"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</a:t>
                      </a:r>
                      <a:r>
                        <a:rPr b="1"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10- 20hrs </a:t>
                      </a: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 training to get near to the original geometry.</a:t>
                      </a:r>
                      <a:endParaRPr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4" name="Google Shape;114;g3b0ea89404c_0_234"/>
          <p:cNvSpPr txBox="1"/>
          <p:nvPr/>
        </p:nvSpPr>
        <p:spPr>
          <a:xfrm>
            <a:off x="854738" y="11769750"/>
            <a:ext cx="5486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Reconstructed Shape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g3b0ea89404c_0_234"/>
          <p:cNvSpPr txBox="1"/>
          <p:nvPr/>
        </p:nvSpPr>
        <p:spPr>
          <a:xfrm>
            <a:off x="7018938" y="11769750"/>
            <a:ext cx="5486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latent Vector: PCA 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g3b0ea89404c_0_234"/>
          <p:cNvSpPr txBox="1"/>
          <p:nvPr/>
        </p:nvSpPr>
        <p:spPr>
          <a:xfrm>
            <a:off x="13289575" y="11769750"/>
            <a:ext cx="5486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latent Vector: t-SNE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g3b0ea89404c_0_234"/>
          <p:cNvSpPr txBox="1"/>
          <p:nvPr/>
        </p:nvSpPr>
        <p:spPr>
          <a:xfrm>
            <a:off x="18775975" y="11769750"/>
            <a:ext cx="51381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latent Vector: UMap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g3b0ea89404c_0_234" title="dgcnn_rec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396" y="7184800"/>
            <a:ext cx="6385080" cy="450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b0ea89404c_0_234" title="dgcnn_pc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8129" y="7246801"/>
            <a:ext cx="5228021" cy="450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b0ea89404c_0_234" title="dgcnn_ts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02125" y="7167925"/>
            <a:ext cx="5228025" cy="458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b0ea89404c_0_234" title="dgcnn_umap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056125" y="7105925"/>
            <a:ext cx="4926875" cy="458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b0ea89404c_0_234"/>
          <p:cNvSpPr txBox="1"/>
          <p:nvPr/>
        </p:nvSpPr>
        <p:spPr>
          <a:xfrm>
            <a:off x="607500" y="4127075"/>
            <a:ext cx="22900500" cy="20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Latent Vector of DGCNN: 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Char char="-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Transformation Invariant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Char char="-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Even if the point are distance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apart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we ge semantic grouping.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0ea89404c_0_251"/>
          <p:cNvSpPr txBox="1"/>
          <p:nvPr>
            <p:ph type="title"/>
          </p:nvPr>
        </p:nvSpPr>
        <p:spPr>
          <a:xfrm>
            <a:off x="607500" y="189456"/>
            <a:ext cx="233595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64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Voxel: 3D Convolution Neural Network</a:t>
            </a:r>
            <a:endParaRPr sz="648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g3b0ea89404c_0_251"/>
          <p:cNvSpPr txBox="1"/>
          <p:nvPr/>
        </p:nvSpPr>
        <p:spPr>
          <a:xfrm>
            <a:off x="1085300" y="8334525"/>
            <a:ext cx="22900500" cy="47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</a:t>
            </a:r>
            <a:endParaRPr b="1" sz="3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AutoNum type="arabicPeriod"/>
            </a:pPr>
            <a:r>
              <a:rPr b="1"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Preparation: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The point cloud is </a:t>
            </a: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normalized and discretized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 into a fixed-resolution </a:t>
            </a: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128×128×128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 3D voxel occupancy grid for processing by a 3D CNN–based voxel autoencoder.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Times New Roman"/>
              <a:buAutoNum type="arabicPeriod"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Convolution captures the local geometry.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g3b0ea89404c_0_251" title="3d_convolu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98948" y="1150925"/>
            <a:ext cx="9402977" cy="602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b0ea89404c_0_251"/>
          <p:cNvPicPr preferRelativeResize="0"/>
          <p:nvPr/>
        </p:nvPicPr>
        <p:blipFill rotWithShape="1">
          <a:blip r:embed="rId5">
            <a:alphaModFix/>
          </a:blip>
          <a:srcRect b="0" l="0" r="27039" t="0"/>
          <a:stretch/>
        </p:blipFill>
        <p:spPr>
          <a:xfrm>
            <a:off x="2021625" y="1209425"/>
            <a:ext cx="10316000" cy="602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b0ea89404c_0_251"/>
          <p:cNvSpPr txBox="1"/>
          <p:nvPr/>
        </p:nvSpPr>
        <p:spPr>
          <a:xfrm>
            <a:off x="14786450" y="7373725"/>
            <a:ext cx="75102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u="sng">
                <a:latin typeface="Times New Roman"/>
                <a:ea typeface="Times New Roman"/>
                <a:cs typeface="Times New Roman"/>
                <a:sym typeface="Times New Roman"/>
              </a:rPr>
              <a:t>3D Convolution Operation</a:t>
            </a:r>
            <a:endParaRPr sz="34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g3b0ea89404c_0_251"/>
          <p:cNvSpPr txBox="1"/>
          <p:nvPr/>
        </p:nvSpPr>
        <p:spPr>
          <a:xfrm>
            <a:off x="3424525" y="7229675"/>
            <a:ext cx="75102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u="sng">
                <a:latin typeface="Times New Roman"/>
                <a:ea typeface="Times New Roman"/>
                <a:cs typeface="Times New Roman"/>
                <a:sym typeface="Times New Roman"/>
              </a:rPr>
              <a:t>3D CNN architecture</a:t>
            </a:r>
            <a:endParaRPr sz="34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g3b0ea89404c_0_263"/>
          <p:cNvGraphicFramePr/>
          <p:nvPr/>
        </p:nvGraphicFramePr>
        <p:xfrm>
          <a:off x="1085300" y="120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{7C9688C2-A848-4772-85E5-69EA2212EC08}</a:tableStyleId>
              </a:tblPr>
              <a:tblGrid>
                <a:gridCol w="3224325"/>
                <a:gridCol w="2276375"/>
                <a:gridCol w="2750400"/>
                <a:gridCol w="3797000"/>
                <a:gridCol w="2829350"/>
                <a:gridCol w="8023050"/>
              </a:tblGrid>
              <a:tr h="64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Architecture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Epoch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Time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Latent Dim 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</a:tr>
              <a:tr h="201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3D CNN 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0.0012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30min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450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500"/>
                        <a:buFont typeface="Times New Roman"/>
                        <a:buChar char="●"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Noise:</a:t>
                      </a: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Moderately robust due to voxel averaging</a:t>
                      </a:r>
                      <a:endParaRPr sz="35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450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3500"/>
                        <a:buFont typeface="Times New Roman"/>
                        <a:buChar char="●"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Geometric Transformations:</a:t>
                      </a: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Translation-invariant, but sensitive to rotation and scale.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450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3500"/>
                        <a:buFont typeface="Times New Roman"/>
                        <a:buChar char="●"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Bottleneck:</a:t>
                      </a: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Encodes global shape while sacrificing fine details due to resolution limits</a:t>
                      </a:r>
                      <a:r>
                        <a:rPr lang="en-US" sz="3500"/>
                        <a:t>.</a:t>
                      </a:r>
                      <a:endParaRPr sz="3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8" name="Google Shape;138;g3b0ea89404c_0_263"/>
          <p:cNvSpPr txBox="1"/>
          <p:nvPr/>
        </p:nvSpPr>
        <p:spPr>
          <a:xfrm>
            <a:off x="2053350" y="11906400"/>
            <a:ext cx="5486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Reconstructed Shape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g3b0ea89404c_0_263"/>
          <p:cNvSpPr txBox="1"/>
          <p:nvPr/>
        </p:nvSpPr>
        <p:spPr>
          <a:xfrm>
            <a:off x="10232813" y="11906400"/>
            <a:ext cx="5486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latent Vector: PCA 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g3b0ea89404c_0_263"/>
          <p:cNvSpPr txBox="1"/>
          <p:nvPr/>
        </p:nvSpPr>
        <p:spPr>
          <a:xfrm>
            <a:off x="18412300" y="11906400"/>
            <a:ext cx="51381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latent Vector: UMap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g3b0ea89404c_0_263" title="voxel_1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3599" y="7833279"/>
            <a:ext cx="5486400" cy="385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b0ea89404c_0_263" title="pca_voxel_3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88225" y="7618413"/>
            <a:ext cx="4975600" cy="428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b0ea89404c_0_263" title="Umap_voxel_3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12300" y="7833275"/>
            <a:ext cx="4559519" cy="428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b0ea89404c_0_263"/>
          <p:cNvSpPr txBox="1"/>
          <p:nvPr>
            <p:ph type="title"/>
          </p:nvPr>
        </p:nvSpPr>
        <p:spPr>
          <a:xfrm>
            <a:off x="626300" y="95881"/>
            <a:ext cx="233595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64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3D Convolution Neural Network</a:t>
            </a:r>
            <a:endParaRPr sz="648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710b1cfd6_1_0"/>
          <p:cNvSpPr txBox="1"/>
          <p:nvPr>
            <p:ph type="title"/>
          </p:nvPr>
        </p:nvSpPr>
        <p:spPr>
          <a:xfrm>
            <a:off x="607500" y="189458"/>
            <a:ext cx="233595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64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Neural Network for Triangular Mesh </a:t>
            </a:r>
            <a:endParaRPr sz="648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g3a710b1cfd6_1_0"/>
          <p:cNvSpPr txBox="1"/>
          <p:nvPr/>
        </p:nvSpPr>
        <p:spPr>
          <a:xfrm>
            <a:off x="607500" y="8334525"/>
            <a:ext cx="23378400" cy="47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Idea</a:t>
            </a:r>
            <a:endParaRPr b="1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1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</a:pPr>
            <a:r>
              <a:rPr b="1" i="0" lang="en-US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Mesh → Graph</a:t>
            </a:r>
            <a:r>
              <a:rPr i="0" lang="en-US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Vertices as nodes, triangle edges as graph connections; node features = coordinates, normals, or curvature.</a:t>
            </a:r>
            <a:endParaRPr i="0" sz="3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1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</a:pPr>
            <a:r>
              <a:rPr b="1" i="0" lang="en-US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GNN Processing</a:t>
            </a:r>
            <a:r>
              <a:rPr i="0" lang="en-US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Nodes aggregate neighbor information through message passing to learn local and global mesh structure.</a:t>
            </a:r>
            <a:endParaRPr i="0" sz="3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1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</a:pPr>
            <a:r>
              <a:rPr b="1" i="0" lang="en-US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Pooling</a:t>
            </a:r>
            <a:r>
              <a:rPr i="0" lang="en-US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Hierarchically merge connected nodes to reduce graph size while preserving geometry for latent representation.</a:t>
            </a:r>
            <a:endParaRPr b="1" i="0" sz="3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g3a710b1cfd6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500" y="1718375"/>
            <a:ext cx="12902676" cy="505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a710b1cfd6_1_0" title="Pasted image 20251211153934.png"/>
          <p:cNvPicPr preferRelativeResize="0"/>
          <p:nvPr/>
        </p:nvPicPr>
        <p:blipFill rotWithShape="1">
          <a:blip r:embed="rId4">
            <a:alphaModFix/>
          </a:blip>
          <a:srcRect b="0" l="7841" r="49100" t="0"/>
          <a:stretch/>
        </p:blipFill>
        <p:spPr>
          <a:xfrm>
            <a:off x="14383350" y="1995400"/>
            <a:ext cx="8377125" cy="47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a710b1cfd6_1_0"/>
          <p:cNvSpPr txBox="1"/>
          <p:nvPr/>
        </p:nvSpPr>
        <p:spPr>
          <a:xfrm>
            <a:off x="14717051" y="6955700"/>
            <a:ext cx="77097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Pooling</a:t>
            </a:r>
            <a:endParaRPr b="0" i="0" sz="32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3a710b1cfd6_1_0"/>
          <p:cNvSpPr txBox="1"/>
          <p:nvPr/>
        </p:nvSpPr>
        <p:spPr>
          <a:xfrm>
            <a:off x="2916888" y="6955688"/>
            <a:ext cx="77097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Triangular Mesh Data</a:t>
            </a:r>
            <a:endParaRPr b="0" i="0" sz="32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0ea89404c_0_279"/>
          <p:cNvSpPr txBox="1"/>
          <p:nvPr>
            <p:ph type="title"/>
          </p:nvPr>
        </p:nvSpPr>
        <p:spPr>
          <a:xfrm>
            <a:off x="607509" y="189440"/>
            <a:ext cx="233595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64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DeepSDF: Auto Decoder</a:t>
            </a:r>
            <a:endParaRPr sz="648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g3b0ea89404c_0_279"/>
          <p:cNvSpPr/>
          <p:nvPr/>
        </p:nvSpPr>
        <p:spPr>
          <a:xfrm>
            <a:off x="13645750" y="1161025"/>
            <a:ext cx="10572600" cy="6299400"/>
          </a:xfrm>
          <a:prstGeom prst="roundRect">
            <a:avLst>
              <a:gd fmla="val 16667" name="adj"/>
            </a:avLst>
          </a:prstGeom>
          <a:solidFill>
            <a:srgbClr val="F2F4F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Training: 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Font typeface="Times New Roman"/>
              <a:buAutoNum type="arabicPeriod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Initialise random latent vector, combines with the 3D coordinates. Pass it do decoder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AutoNum type="arabicPeriod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Compare predicted SDF with ground truth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AutoNum type="arabicPeriod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Optimize the </a:t>
            </a: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Network(decoder) 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weight and </a:t>
            </a: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Latent Code z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Inference: 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Font typeface="Times New Roman"/>
              <a:buAutoNum type="arabicPeriod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Fix decoder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AutoNum type="arabicPeriod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Initialise test latent code.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AutoNum type="arabicPeriod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Optimise the latent code with gradient descent.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AutoNum type="arabicPeriod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Pass it to decoder and get the output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g3b0ea89404c_0_279"/>
          <p:cNvSpPr txBox="1"/>
          <p:nvPr/>
        </p:nvSpPr>
        <p:spPr>
          <a:xfrm>
            <a:off x="1066500" y="8888725"/>
            <a:ext cx="22900500" cy="26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</a:t>
            </a:r>
            <a:endParaRPr b="1" sz="3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AutoNum type="arabicPeriod"/>
            </a:pPr>
            <a:r>
              <a:rPr b="1"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Preparation: 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Each mesh is centered and scale-normalized, </a:t>
            </a: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5,000 points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 are sampled (</a:t>
            </a: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80% near-surface, 20% uniform within ±0.1 padding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), converted to signed distance values, and saved as DeepSDF training data.</a:t>
            </a:r>
            <a:endParaRPr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AutoNum type="arabicPeriod"/>
            </a:pPr>
            <a:r>
              <a:rPr b="1"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Implication: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Uses Skip connection. </a:t>
            </a:r>
            <a:endParaRPr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" name="Google Shape;162;g3b0ea89404c_0_279"/>
          <p:cNvPicPr preferRelativeResize="0"/>
          <p:nvPr/>
        </p:nvPicPr>
        <p:blipFill rotWithShape="1">
          <a:blip r:embed="rId3">
            <a:alphaModFix/>
          </a:blip>
          <a:srcRect b="43010" l="5119" r="4749" t="0"/>
          <a:stretch/>
        </p:blipFill>
        <p:spPr>
          <a:xfrm>
            <a:off x="607500" y="1211700"/>
            <a:ext cx="12416400" cy="619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710b1cfd6_1_41"/>
          <p:cNvSpPr txBox="1"/>
          <p:nvPr>
            <p:ph type="title"/>
          </p:nvPr>
        </p:nvSpPr>
        <p:spPr>
          <a:xfrm>
            <a:off x="607509" y="189440"/>
            <a:ext cx="233595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64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DeepSDF: Outcomes</a:t>
            </a:r>
            <a:endParaRPr sz="648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t/>
            </a:r>
            <a:endParaRPr sz="64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8" name="Google Shape;168;g3a710b1cfd6_1_41"/>
          <p:cNvGraphicFramePr/>
          <p:nvPr/>
        </p:nvGraphicFramePr>
        <p:xfrm>
          <a:off x="1085300" y="1275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{C03A96FA-7481-4A48-BE7A-E7AF8162FE23}</a:tableStyleId>
              </a:tblPr>
              <a:tblGrid>
                <a:gridCol w="3224325"/>
                <a:gridCol w="2276375"/>
                <a:gridCol w="2750400"/>
                <a:gridCol w="3797000"/>
                <a:gridCol w="2829350"/>
                <a:gridCol w="8023050"/>
              </a:tblGrid>
              <a:tr h="64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Architecture</a:t>
                      </a:r>
                      <a:endParaRPr b="1" sz="3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Epoch</a:t>
                      </a:r>
                      <a:endParaRPr b="1" sz="3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</a:t>
                      </a:r>
                      <a:endParaRPr b="1" sz="3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Time</a:t>
                      </a:r>
                      <a:endParaRPr b="1" sz="3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Latent Dim </a:t>
                      </a:r>
                      <a:endParaRPr b="1" sz="3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b="1" sz="3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</a:tr>
              <a:tr h="201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DeepSDF</a:t>
                      </a:r>
                      <a:endParaRPr b="1" sz="3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5000</a:t>
                      </a:r>
                      <a:endParaRPr sz="3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0.0015</a:t>
                      </a:r>
                      <a:endParaRPr sz="3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2.5hrs</a:t>
                      </a:r>
                      <a:endParaRPr sz="3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3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4508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500"/>
                        <a:buFont typeface="Times New Roman"/>
                        <a:buChar char="●"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Skip connection</a:t>
                      </a:r>
                      <a:endParaRPr sz="3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9" name="Google Shape;169;g3a710b1cfd6_1_41"/>
          <p:cNvSpPr txBox="1"/>
          <p:nvPr/>
        </p:nvSpPr>
        <p:spPr>
          <a:xfrm>
            <a:off x="889863" y="11769750"/>
            <a:ext cx="5486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Reconstructed Shape</a:t>
            </a:r>
            <a:endParaRPr b="0" i="0" sz="3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g3a710b1cfd6_1_41"/>
          <p:cNvSpPr txBox="1"/>
          <p:nvPr/>
        </p:nvSpPr>
        <p:spPr>
          <a:xfrm>
            <a:off x="7018938" y="11769750"/>
            <a:ext cx="5486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latent Vector: PCA </a:t>
            </a:r>
            <a:endParaRPr b="0" i="0" sz="3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g3a710b1cfd6_1_41"/>
          <p:cNvSpPr txBox="1"/>
          <p:nvPr/>
        </p:nvSpPr>
        <p:spPr>
          <a:xfrm>
            <a:off x="13289575" y="11769750"/>
            <a:ext cx="5486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latent Vector: t-SNE</a:t>
            </a:r>
            <a:endParaRPr b="0" i="0" sz="3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g3a710b1cfd6_1_41"/>
          <p:cNvSpPr txBox="1"/>
          <p:nvPr/>
        </p:nvSpPr>
        <p:spPr>
          <a:xfrm>
            <a:off x="19165775" y="11691525"/>
            <a:ext cx="51381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latent Vector: UMap</a:t>
            </a:r>
            <a:endParaRPr b="0" i="0" sz="3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g3a710b1cfd6_1_41" title="DeepSDF_outpu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874" y="6137705"/>
            <a:ext cx="5486400" cy="563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a710b1cfd6_1_41" title="deepSDF_umap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47700" y="6164075"/>
            <a:ext cx="5138099" cy="552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a710b1cfd6_1_41" title="DeepSDF_pc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13375" y="6164074"/>
            <a:ext cx="5486400" cy="5605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a710b1cfd6_1_41" title="DeepSDF_tsne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463725" y="6137700"/>
            <a:ext cx="5138101" cy="563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0ea89404c_0_287"/>
          <p:cNvSpPr txBox="1"/>
          <p:nvPr/>
        </p:nvSpPr>
        <p:spPr>
          <a:xfrm>
            <a:off x="2085000" y="2862600"/>
            <a:ext cx="20214000" cy="79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</a:t>
            </a:r>
            <a:endParaRPr sz="1220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" name="Google Shape;186;g3b0ea89404c_0_404"/>
          <p:cNvGraphicFramePr/>
          <p:nvPr/>
        </p:nvGraphicFramePr>
        <p:xfrm>
          <a:off x="372950" y="84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{7C9688C2-A848-4772-85E5-69EA2212EC08}</a:tableStyleId>
              </a:tblPr>
              <a:tblGrid>
                <a:gridCol w="4864650"/>
                <a:gridCol w="4677300"/>
                <a:gridCol w="4677300"/>
                <a:gridCol w="4677300"/>
                <a:gridCol w="4677300"/>
              </a:tblGrid>
              <a:tr h="235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/ Parameters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Latent Transformation </a:t>
                      </a: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Invariance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Reconstruction Accuracy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Noise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Robusteness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Computational</a:t>
                      </a: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Power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2F4F7"/>
                    </a:solidFill>
                  </a:tcPr>
                </a:tc>
              </a:tr>
              <a:tr h="235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Pointnet++ 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 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 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>ow</a:t>
                      </a: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Med (based on the </a:t>
                      </a: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geometry</a:t>
                      </a: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of input)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35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DGCNN 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  - High 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35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3D </a:t>
                      </a: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 - High 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35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DeepSDF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High 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 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Moderate(based on the complexity of MLP)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0ea89404c_0_342"/>
          <p:cNvSpPr txBox="1"/>
          <p:nvPr>
            <p:ph type="title"/>
          </p:nvPr>
        </p:nvSpPr>
        <p:spPr>
          <a:xfrm>
            <a:off x="607509" y="189440"/>
            <a:ext cx="233595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6480">
                <a:solidFill>
                  <a:srgbClr val="2E9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</a:t>
            </a:r>
            <a:endParaRPr sz="6480">
              <a:solidFill>
                <a:srgbClr val="2E9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2" name="Google Shape;192;g3b0ea89404c_0_342"/>
          <p:cNvGraphicFramePr/>
          <p:nvPr/>
        </p:nvGraphicFramePr>
        <p:xfrm>
          <a:off x="1085300" y="167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{7C9688C2-A848-4772-85E5-69EA2212EC08}</a:tableStyleId>
              </a:tblPr>
              <a:tblGrid>
                <a:gridCol w="7493000"/>
                <a:gridCol w="7493000"/>
                <a:gridCol w="749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Best For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Points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DeepSDF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</a:t>
                      </a: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Fidelity</a:t>
                      </a: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reconstruction.   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Captures fine geometric detail with continuous SDF representation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DGCNN 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Robust latent vector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Transformation invariant, reserves local geometry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Pointnet++ 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 and memory efficient reconstruction 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Scales well to large Point cloud data. 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Voxel CNN</a:t>
                      </a:r>
                      <a:endParaRPr b="1"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 </a:t>
                      </a: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resolution</a:t>
                      </a: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fast processing 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Avoid</a:t>
                      </a: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large point </a:t>
                      </a:r>
                      <a:r>
                        <a:rPr lang="en-US" sz="3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cloud, coz of exponential rise in memory</a:t>
                      </a:r>
                      <a:endParaRPr sz="3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3" name="Google Shape;193;g3b0ea89404c_0_342"/>
          <p:cNvSpPr txBox="1"/>
          <p:nvPr/>
        </p:nvSpPr>
        <p:spPr>
          <a:xfrm>
            <a:off x="1049300" y="7933375"/>
            <a:ext cx="22551000" cy="48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Conclusion: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DGCNN: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Provides robust, transformation-invariant latent representations through dynamic feature-space modeling.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DeepSDF: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Excels at capturing and reconstructing fine, continuous surface details.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PointNet++: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Offers high computational efficiency but demonstrates limited robustness to transformations.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Voxel-based CNNs: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Remained constrained by memory-intensive O(N3) scaling and resolution limits.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Mehul Bagaria</dc:creator>
</cp:coreProperties>
</file>